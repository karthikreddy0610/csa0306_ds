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37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9692640" y="822960"/>
            <a:ext cx="914400" cy="365760"/>
          </a:xfrm>
          <a:prstGeom prst="line">
            <a:avLst/>
          </a:prstGeom>
          <a:noFill/>
          <a:ln w="12700">
            <a:solidFill>
              <a:srgbClr val="00A896">
                <a:alpha val="5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92640" y="1188720"/>
            <a:ext cx="1645920" cy="365760"/>
          </a:xfrm>
          <a:prstGeom prst="line">
            <a:avLst/>
          </a:prstGeom>
          <a:noFill/>
          <a:ln w="12700">
            <a:solidFill>
              <a:srgbClr val="00A896">
                <a:alpha val="5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07040" y="822960"/>
            <a:ext cx="731520" cy="731520"/>
          </a:xfrm>
          <a:prstGeom prst="line">
            <a:avLst/>
          </a:prstGeom>
          <a:noFill/>
          <a:ln w="12700">
            <a:solidFill>
              <a:srgbClr val="00A896">
                <a:alpha val="5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H="1">
            <a:off x="10424160" y="1554480"/>
            <a:ext cx="914400" cy="548640"/>
          </a:xfrm>
          <a:prstGeom prst="line">
            <a:avLst/>
          </a:prstGeom>
          <a:noFill/>
          <a:ln w="12700">
            <a:solidFill>
              <a:srgbClr val="00A896">
                <a:alpha val="5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H="1" flipV="1">
            <a:off x="9418320" y="2011680"/>
            <a:ext cx="1005840" cy="91440"/>
          </a:xfrm>
          <a:prstGeom prst="line">
            <a:avLst/>
          </a:prstGeom>
          <a:noFill/>
          <a:ln w="12700">
            <a:solidFill>
              <a:srgbClr val="00A896">
                <a:alpha val="5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H="1">
            <a:off x="9418320" y="1188720"/>
            <a:ext cx="274320" cy="822960"/>
          </a:xfrm>
          <a:prstGeom prst="line">
            <a:avLst/>
          </a:prstGeom>
          <a:noFill/>
          <a:ln w="12700">
            <a:solidFill>
              <a:srgbClr val="00A896">
                <a:alpha val="5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338560" y="1554480"/>
            <a:ext cx="91440" cy="1097280"/>
          </a:xfrm>
          <a:prstGeom prst="line">
            <a:avLst/>
          </a:prstGeom>
          <a:noFill/>
          <a:ln w="12700">
            <a:solidFill>
              <a:srgbClr val="00A896">
                <a:alpha val="5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19488" y="1115568"/>
            <a:ext cx="146304" cy="146304"/>
          </a:xfrm>
          <a:prstGeom prst="ellipse">
            <a:avLst/>
          </a:prstGeom>
          <a:solidFill>
            <a:srgbClr val="02C39A">
              <a:alpha val="8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0533888" y="749808"/>
            <a:ext cx="146304" cy="146304"/>
          </a:xfrm>
          <a:prstGeom prst="ellipse">
            <a:avLst/>
          </a:prstGeom>
          <a:solidFill>
            <a:srgbClr val="02C39A">
              <a:alpha val="8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265408" y="1481328"/>
            <a:ext cx="146304" cy="146304"/>
          </a:xfrm>
          <a:prstGeom prst="ellipse">
            <a:avLst/>
          </a:prstGeom>
          <a:solidFill>
            <a:srgbClr val="02C39A">
              <a:alpha val="8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0351008" y="2029968"/>
            <a:ext cx="146304" cy="146304"/>
          </a:xfrm>
          <a:prstGeom prst="ellipse">
            <a:avLst/>
          </a:prstGeom>
          <a:solidFill>
            <a:srgbClr val="02C39A">
              <a:alpha val="8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9345168" y="1938528"/>
            <a:ext cx="146304" cy="146304"/>
          </a:xfrm>
          <a:prstGeom prst="ellipse">
            <a:avLst/>
          </a:prstGeom>
          <a:solidFill>
            <a:srgbClr val="02C39A">
              <a:alpha val="8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356848" y="2578608"/>
            <a:ext cx="146304" cy="146304"/>
          </a:xfrm>
          <a:prstGeom prst="ellipse">
            <a:avLst/>
          </a:prstGeom>
          <a:solidFill>
            <a:srgbClr val="02C39A">
              <a:alpha val="8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1371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ENGINEERING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31520" y="1783080"/>
            <a:ext cx="8686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Efficient Representation of</a:t>
            </a:r>
            <a:endParaRPr lang="en-US" sz="40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Friend Relationships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731520" y="3520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F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Graph-Based Data Structure for Social Networking Platforms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31520" y="4160520"/>
            <a:ext cx="201168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45720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FD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Karthik Reddy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31520" y="49377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FD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by: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Shekila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millions of bidirectional friendships at scale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1206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2024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1856232"/>
            <a:ext cx="4069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Many-to-many links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17320" y="2167128"/>
            <a:ext cx="4069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user can connect to any number of others — a flat list or table quickly becomes unwieldy.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26480" y="1691640"/>
            <a:ext cx="51206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55080" y="192024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635508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995160" y="1856232"/>
            <a:ext cx="4069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 queries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995160" y="2167128"/>
            <a:ext cx="4069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"Are we friends?", "list my friends", and "friends of friends" run constantly, in real time.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154680"/>
            <a:ext cx="51206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" y="338328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17320" y="3319272"/>
            <a:ext cx="4069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 change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17320" y="3630168"/>
            <a:ext cx="4069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 requests, acceptances, and removals happen every second across the platform.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26480" y="3154680"/>
            <a:ext cx="51206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55080" y="338328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635508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995160" y="3319272"/>
            <a:ext cx="4069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995160" y="3630168"/>
            <a:ext cx="4069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 must support millions of users and billions of relationship edges.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Representation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users and friendships as a Graph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448056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96596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Graph  G = (V, E)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868680" y="2569464"/>
            <a:ext cx="54864" cy="7772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251460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(Vertices)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051560" y="2816352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user is a node in the graph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68680" y="3483864"/>
            <a:ext cx="54864" cy="7772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342900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(Edges)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051560" y="3730752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friendship is an undirected edge between two nodes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68680" y="4398264"/>
            <a:ext cx="54864" cy="7772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434340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051560" y="4645152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node keeps an Adjacency List — the set of directly connected friends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 flipV="1">
            <a:off x="6675120" y="2011680"/>
            <a:ext cx="1645920" cy="365760"/>
          </a:xfrm>
          <a:prstGeom prst="line">
            <a:avLst/>
          </a:prstGeom>
          <a:noFill/>
          <a:ln w="22225">
            <a:solidFill>
              <a:srgbClr val="02809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H="1">
            <a:off x="6400800" y="2377440"/>
            <a:ext cx="274320" cy="1737360"/>
          </a:xfrm>
          <a:prstGeom prst="line">
            <a:avLst/>
          </a:prstGeom>
          <a:noFill/>
          <a:ln w="22225">
            <a:solidFill>
              <a:srgbClr val="02809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21040" y="2011680"/>
            <a:ext cx="1554480" cy="731520"/>
          </a:xfrm>
          <a:prstGeom prst="line">
            <a:avLst/>
          </a:prstGeom>
          <a:noFill/>
          <a:ln w="22225">
            <a:solidFill>
              <a:srgbClr val="02809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H="1">
            <a:off x="8046720" y="2011680"/>
            <a:ext cx="274320" cy="1920240"/>
          </a:xfrm>
          <a:prstGeom prst="line">
            <a:avLst/>
          </a:prstGeom>
          <a:noFill/>
          <a:ln w="22225">
            <a:solidFill>
              <a:srgbClr val="02809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flipV="1">
            <a:off x="6400800" y="3931920"/>
            <a:ext cx="1645920" cy="182880"/>
          </a:xfrm>
          <a:prstGeom prst="line">
            <a:avLst/>
          </a:prstGeom>
          <a:noFill/>
          <a:ln w="22225">
            <a:solidFill>
              <a:srgbClr val="02809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flipV="1">
            <a:off x="8046720" y="2743200"/>
            <a:ext cx="1828800" cy="1188720"/>
          </a:xfrm>
          <a:prstGeom prst="line">
            <a:avLst/>
          </a:prstGeom>
          <a:noFill/>
          <a:ln w="22225">
            <a:solidFill>
              <a:srgbClr val="02809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46720" y="3931920"/>
            <a:ext cx="1645920" cy="640080"/>
          </a:xfrm>
          <a:prstGeom prst="line">
            <a:avLst/>
          </a:prstGeom>
          <a:noFill/>
          <a:ln w="22225">
            <a:solidFill>
              <a:srgbClr val="02809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flipH="1">
            <a:off x="9692640" y="2743200"/>
            <a:ext cx="182880" cy="1828800"/>
          </a:xfrm>
          <a:prstGeom prst="line">
            <a:avLst/>
          </a:prstGeom>
          <a:noFill/>
          <a:ln w="22225">
            <a:solidFill>
              <a:srgbClr val="02809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91072" y="1993392"/>
            <a:ext cx="768096" cy="768096"/>
          </a:xfrm>
          <a:prstGeom prst="ellipse">
            <a:avLst/>
          </a:prstGeom>
          <a:solidFill>
            <a:srgbClr val="00A896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291072" y="199339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936992" y="1627632"/>
            <a:ext cx="768096" cy="768096"/>
          </a:xfrm>
          <a:prstGeom prst="ellipse">
            <a:avLst/>
          </a:prstGeom>
          <a:solidFill>
            <a:srgbClr val="00A896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936992" y="162763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9491472" y="2359152"/>
            <a:ext cx="768096" cy="768096"/>
          </a:xfrm>
          <a:prstGeom prst="ellipse">
            <a:avLst/>
          </a:prstGeom>
          <a:solidFill>
            <a:srgbClr val="00A896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9491472" y="235915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016752" y="3730752"/>
            <a:ext cx="768096" cy="768096"/>
          </a:xfrm>
          <a:prstGeom prst="ellipse">
            <a:avLst/>
          </a:prstGeom>
          <a:solidFill>
            <a:srgbClr val="00A896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016752" y="373075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7662672" y="3547872"/>
            <a:ext cx="768096" cy="768096"/>
          </a:xfrm>
          <a:prstGeom prst="ellipse">
            <a:avLst/>
          </a:prstGeom>
          <a:solidFill>
            <a:srgbClr val="00A896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7662672" y="354787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9308592" y="4187952"/>
            <a:ext cx="768096" cy="768096"/>
          </a:xfrm>
          <a:prstGeom prst="ellipse">
            <a:avLst/>
          </a:prstGeom>
          <a:solidFill>
            <a:srgbClr val="00A896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9308592" y="418795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035040" y="539496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as nodes · friendships as edges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It's Stored: Adjacency List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user maps to a set (hash set) of their direct friends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7863840" cy="4224528"/>
          </a:xfrm>
          <a:prstGeom prst="roundRect">
            <a:avLst>
              <a:gd name="adj" fmla="val 17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856232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56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17320" y="1856232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828800" y="1901952"/>
            <a:ext cx="566928" cy="384048"/>
          </a:xfrm>
          <a:prstGeom prst="roundRect">
            <a:avLst>
              <a:gd name="adj" fmla="val 14286"/>
            </a:avLst>
          </a:prstGeom>
          <a:solidFill>
            <a:srgbClr val="E4F5F2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0" y="190195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560320" y="1901952"/>
            <a:ext cx="566928" cy="384048"/>
          </a:xfrm>
          <a:prstGeom prst="roundRect">
            <a:avLst>
              <a:gd name="adj" fmla="val 14286"/>
            </a:avLst>
          </a:prstGeom>
          <a:solidFill>
            <a:srgbClr val="E4F5F2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0" y="190195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68680" y="2414016"/>
            <a:ext cx="7223760" cy="0"/>
          </a:xfrm>
          <a:prstGeom prst="line">
            <a:avLst/>
          </a:prstGeom>
          <a:noFill/>
          <a:ln w="12700">
            <a:solidFill>
              <a:srgbClr val="E2E8E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251460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417320" y="251460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828800" y="2560320"/>
            <a:ext cx="566928" cy="384048"/>
          </a:xfrm>
          <a:prstGeom prst="roundRect">
            <a:avLst>
              <a:gd name="adj" fmla="val 14286"/>
            </a:avLst>
          </a:prstGeom>
          <a:solidFill>
            <a:srgbClr val="E4F5F2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28800" y="2560320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2560320" y="2560320"/>
            <a:ext cx="566928" cy="384048"/>
          </a:xfrm>
          <a:prstGeom prst="roundRect">
            <a:avLst>
              <a:gd name="adj" fmla="val 14286"/>
            </a:avLst>
          </a:prstGeom>
          <a:solidFill>
            <a:srgbClr val="E4F5F2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0" y="2560320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3291840" y="2560320"/>
            <a:ext cx="566928" cy="384048"/>
          </a:xfrm>
          <a:prstGeom prst="roundRect">
            <a:avLst>
              <a:gd name="adj" fmla="val 14286"/>
            </a:avLst>
          </a:prstGeom>
          <a:solidFill>
            <a:srgbClr val="E4F5F2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91840" y="2560320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68680" y="3072384"/>
            <a:ext cx="7223760" cy="0"/>
          </a:xfrm>
          <a:prstGeom prst="line">
            <a:avLst/>
          </a:prstGeom>
          <a:noFill/>
          <a:ln w="12700">
            <a:solidFill>
              <a:srgbClr val="E2E8E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68680" y="317296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4" name="Text 22"/>
          <p:cNvSpPr/>
          <p:nvPr/>
        </p:nvSpPr>
        <p:spPr>
          <a:xfrm>
            <a:off x="868680" y="3172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417320" y="3172968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828800" y="3218688"/>
            <a:ext cx="566928" cy="384048"/>
          </a:xfrm>
          <a:prstGeom prst="roundRect">
            <a:avLst>
              <a:gd name="adj" fmla="val 14286"/>
            </a:avLst>
          </a:prstGeom>
          <a:solidFill>
            <a:srgbClr val="E4F5F2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828800" y="3218688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2560320" y="3218688"/>
            <a:ext cx="566928" cy="384048"/>
          </a:xfrm>
          <a:prstGeom prst="roundRect">
            <a:avLst>
              <a:gd name="adj" fmla="val 14286"/>
            </a:avLst>
          </a:prstGeom>
          <a:solidFill>
            <a:srgbClr val="E4F5F2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560320" y="3218688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3291840" y="3218688"/>
            <a:ext cx="566928" cy="384048"/>
          </a:xfrm>
          <a:prstGeom prst="roundRect">
            <a:avLst>
              <a:gd name="adj" fmla="val 14286"/>
            </a:avLst>
          </a:prstGeom>
          <a:solidFill>
            <a:srgbClr val="E4F5F2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91840" y="3218688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868680" y="3730752"/>
            <a:ext cx="7223760" cy="0"/>
          </a:xfrm>
          <a:prstGeom prst="line">
            <a:avLst/>
          </a:prstGeom>
          <a:noFill/>
          <a:ln w="12700">
            <a:solidFill>
              <a:srgbClr val="E2E8E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68680" y="3831336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4" name="Text 32"/>
          <p:cNvSpPr/>
          <p:nvPr/>
        </p:nvSpPr>
        <p:spPr>
          <a:xfrm>
            <a:off x="868680" y="38313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1417320" y="3831336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1828800" y="3877056"/>
            <a:ext cx="566928" cy="384048"/>
          </a:xfrm>
          <a:prstGeom prst="roundRect">
            <a:avLst>
              <a:gd name="adj" fmla="val 14286"/>
            </a:avLst>
          </a:prstGeom>
          <a:solidFill>
            <a:srgbClr val="E4F5F2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828800" y="3877056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2560320" y="3877056"/>
            <a:ext cx="566928" cy="384048"/>
          </a:xfrm>
          <a:prstGeom prst="roundRect">
            <a:avLst>
              <a:gd name="adj" fmla="val 14286"/>
            </a:avLst>
          </a:prstGeom>
          <a:solidFill>
            <a:srgbClr val="E4F5F2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560320" y="3877056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868680" y="4389120"/>
            <a:ext cx="7223760" cy="0"/>
          </a:xfrm>
          <a:prstGeom prst="line">
            <a:avLst/>
          </a:prstGeom>
          <a:noFill/>
          <a:ln w="12700">
            <a:solidFill>
              <a:srgbClr val="E2E8E7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68680" y="4489704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2" name="Text 40"/>
          <p:cNvSpPr/>
          <p:nvPr/>
        </p:nvSpPr>
        <p:spPr>
          <a:xfrm>
            <a:off x="868680" y="44897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1417320" y="4489704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1828800" y="4535424"/>
            <a:ext cx="566928" cy="384048"/>
          </a:xfrm>
          <a:prstGeom prst="roundRect">
            <a:avLst>
              <a:gd name="adj" fmla="val 14286"/>
            </a:avLst>
          </a:prstGeom>
          <a:solidFill>
            <a:srgbClr val="E4F5F2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828800" y="4535424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50" dirty="0"/>
          </a:p>
        </p:txBody>
      </p:sp>
      <p:sp>
        <p:nvSpPr>
          <p:cNvPr id="46" name="Shape 44"/>
          <p:cNvSpPr/>
          <p:nvPr/>
        </p:nvSpPr>
        <p:spPr>
          <a:xfrm>
            <a:off x="2560320" y="4535424"/>
            <a:ext cx="566928" cy="384048"/>
          </a:xfrm>
          <a:prstGeom prst="roundRect">
            <a:avLst>
              <a:gd name="adj" fmla="val 14286"/>
            </a:avLst>
          </a:prstGeom>
          <a:solidFill>
            <a:srgbClr val="E4F5F2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560320" y="4535424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50" dirty="0"/>
          </a:p>
        </p:txBody>
      </p:sp>
      <p:sp>
        <p:nvSpPr>
          <p:cNvPr id="48" name="Shape 46"/>
          <p:cNvSpPr/>
          <p:nvPr/>
        </p:nvSpPr>
        <p:spPr>
          <a:xfrm>
            <a:off x="3291840" y="4535424"/>
            <a:ext cx="566928" cy="384048"/>
          </a:xfrm>
          <a:prstGeom prst="roundRect">
            <a:avLst>
              <a:gd name="adj" fmla="val 14286"/>
            </a:avLst>
          </a:prstGeom>
          <a:solidFill>
            <a:srgbClr val="E4F5F2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291840" y="4535424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50" dirty="0"/>
          </a:p>
        </p:txBody>
      </p:sp>
      <p:sp>
        <p:nvSpPr>
          <p:cNvPr id="50" name="Shape 48"/>
          <p:cNvSpPr/>
          <p:nvPr/>
        </p:nvSpPr>
        <p:spPr>
          <a:xfrm>
            <a:off x="4023360" y="4535424"/>
            <a:ext cx="566928" cy="384048"/>
          </a:xfrm>
          <a:prstGeom prst="roundRect">
            <a:avLst>
              <a:gd name="adj" fmla="val 14286"/>
            </a:avLst>
          </a:prstGeom>
          <a:solidFill>
            <a:srgbClr val="E4F5F2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023360" y="4535424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250" dirty="0"/>
          </a:p>
        </p:txBody>
      </p:sp>
      <p:sp>
        <p:nvSpPr>
          <p:cNvPr id="52" name="Shape 50"/>
          <p:cNvSpPr/>
          <p:nvPr/>
        </p:nvSpPr>
        <p:spPr>
          <a:xfrm>
            <a:off x="868680" y="5047488"/>
            <a:ext cx="7223760" cy="0"/>
          </a:xfrm>
          <a:prstGeom prst="line">
            <a:avLst/>
          </a:prstGeom>
          <a:noFill/>
          <a:ln w="12700">
            <a:solidFill>
              <a:srgbClr val="E2E8E7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68680" y="5148072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4" name="Text 52"/>
          <p:cNvSpPr/>
          <p:nvPr/>
        </p:nvSpPr>
        <p:spPr>
          <a:xfrm>
            <a:off x="868680" y="5148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500" dirty="0"/>
          </a:p>
        </p:txBody>
      </p:sp>
      <p:sp>
        <p:nvSpPr>
          <p:cNvPr id="55" name="Text 53"/>
          <p:cNvSpPr/>
          <p:nvPr/>
        </p:nvSpPr>
        <p:spPr>
          <a:xfrm>
            <a:off x="1417320" y="5148072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1828800" y="5193792"/>
            <a:ext cx="566928" cy="384048"/>
          </a:xfrm>
          <a:prstGeom prst="roundRect">
            <a:avLst>
              <a:gd name="adj" fmla="val 14286"/>
            </a:avLst>
          </a:prstGeom>
          <a:solidFill>
            <a:srgbClr val="E4F5F2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828800" y="519379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50" dirty="0"/>
          </a:p>
        </p:txBody>
      </p:sp>
      <p:sp>
        <p:nvSpPr>
          <p:cNvPr id="58" name="Shape 56"/>
          <p:cNvSpPr/>
          <p:nvPr/>
        </p:nvSpPr>
        <p:spPr>
          <a:xfrm>
            <a:off x="2560320" y="5193792"/>
            <a:ext cx="566928" cy="384048"/>
          </a:xfrm>
          <a:prstGeom prst="roundRect">
            <a:avLst>
              <a:gd name="adj" fmla="val 14286"/>
            </a:avLst>
          </a:prstGeom>
          <a:solidFill>
            <a:srgbClr val="E4F5F2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560320" y="519379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250" dirty="0"/>
          </a:p>
        </p:txBody>
      </p:sp>
      <p:sp>
        <p:nvSpPr>
          <p:cNvPr id="60" name="Shape 58"/>
          <p:cNvSpPr/>
          <p:nvPr/>
        </p:nvSpPr>
        <p:spPr>
          <a:xfrm>
            <a:off x="8732520" y="1645920"/>
            <a:ext cx="2880360" cy="4160520"/>
          </a:xfrm>
          <a:prstGeom prst="roundRect">
            <a:avLst>
              <a:gd name="adj" fmla="val 3175"/>
            </a:avLst>
          </a:prstGeom>
          <a:solidFill>
            <a:srgbClr val="028090"/>
          </a:solidFill>
          <a:ln/>
        </p:spPr>
      </p:sp>
      <p:sp>
        <p:nvSpPr>
          <p:cNvPr id="61" name="Text 59"/>
          <p:cNvSpPr/>
          <p:nvPr/>
        </p:nvSpPr>
        <p:spPr>
          <a:xfrm>
            <a:off x="9006840" y="18745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Hash Set?</a:t>
            </a:r>
            <a:endParaRPr lang="en-US" sz="1450" dirty="0"/>
          </a:p>
        </p:txBody>
      </p:sp>
      <p:sp>
        <p:nvSpPr>
          <p:cNvPr id="62" name="Text 60"/>
          <p:cNvSpPr/>
          <p:nvPr/>
        </p:nvSpPr>
        <p:spPr>
          <a:xfrm>
            <a:off x="9006840" y="2331720"/>
            <a:ext cx="23774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E4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O(1) average lookup for “are they friends?”
</a:t>
            </a:r>
            <a:endParaRPr lang="en-US" sz="1150" dirty="0"/>
          </a:p>
          <a:p>
            <a:pPr indent="0" marL="0">
              <a:lnSpc>
                <a:spcPts val="17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E4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O(1) average add / remove friend
</a:t>
            </a:r>
            <a:endParaRPr lang="en-US" sz="1150" dirty="0"/>
          </a:p>
          <a:p>
            <a:pPr indent="0" marL="0">
              <a:lnSpc>
                <a:spcPts val="17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E4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duplicate edges stored
</a:t>
            </a:r>
            <a:endParaRPr lang="en-US" sz="1150" dirty="0"/>
          </a:p>
          <a:p>
            <a:pPr indent="0" marL="0">
              <a:lnSpc>
                <a:spcPts val="17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E4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Space proportional to actual friendships, not all possible pairs</a:t>
            </a:r>
            <a:endParaRPr lang="en-US" sz="1150" dirty="0"/>
          </a:p>
        </p:txBody>
      </p:sp>
      <p:sp>
        <p:nvSpPr>
          <p:cNvPr id="63" name="Text 61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Supports Efficient Mapping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relationship operations, mapped to time complexity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502920"/>
          </a:xfrm>
          <a:prstGeom prst="roundRect">
            <a:avLst>
              <a:gd name="adj" fmla="val 10909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78308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937760" y="178308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Adjacency List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949440" y="178308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fast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286000"/>
            <a:ext cx="1106424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286000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3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friendship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937760" y="2286000"/>
            <a:ext cx="1737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949440" y="2286000"/>
            <a:ext cx="4572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3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into both users’ sets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2944368"/>
            <a:ext cx="11064240" cy="658368"/>
          </a:xfrm>
          <a:prstGeom prst="rect">
            <a:avLst/>
          </a:prstGeom>
          <a:solidFill>
            <a:srgbClr val="EAF6F4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944368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3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a friendship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937760" y="2944368"/>
            <a:ext cx="1737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949440" y="2944368"/>
            <a:ext cx="4572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3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from both sets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602736"/>
            <a:ext cx="1106424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602736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3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if friends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937760" y="3602736"/>
            <a:ext cx="1737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 avg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949440" y="3602736"/>
            <a:ext cx="4572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3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hash-set lookup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4261104"/>
            <a:ext cx="11064240" cy="658368"/>
          </a:xfrm>
          <a:prstGeom prst="rect">
            <a:avLst/>
          </a:prstGeom>
          <a:solidFill>
            <a:srgbClr val="EAF6F4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261104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3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all friends of a user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937760" y="4261104"/>
            <a:ext cx="1737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O(k)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949440" y="4261104"/>
            <a:ext cx="4572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3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that user’s friend count only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4919472"/>
            <a:ext cx="1106424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4919472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3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 mutual friends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937760" y="4919472"/>
            <a:ext cx="1737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O(k)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949440" y="4919472"/>
            <a:ext cx="4572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3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Traverse only neighboring nodes (BFS)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" y="1783080"/>
            <a:ext cx="11064240" cy="3794760"/>
          </a:xfrm>
          <a:prstGeom prst="rect">
            <a:avLst/>
          </a:prstGeom>
          <a:ln w="12700">
            <a:solidFill>
              <a:srgbClr val="D7E7E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Adjacency List vs. Adjacency Matrix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matrix alternative doesn’t scale for social platforms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254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37360"/>
            <a:ext cx="5394960" cy="502920"/>
          </a:xfrm>
          <a:prstGeom prst="roundRect">
            <a:avLst>
              <a:gd name="adj" fmla="val 18182"/>
            </a:avLst>
          </a:prstGeom>
          <a:solidFill>
            <a:srgbClr val="02C39A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011680"/>
            <a:ext cx="5394960" cy="2286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73736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Adjacency List  (Chosen)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51460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3000" y="2514600"/>
            <a:ext cx="4709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3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Space: O(V + E) — grows with real friendships only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333756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43000" y="3337560"/>
            <a:ext cx="4709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3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for sparse graphs (avg. user has ~200–300 friends, not millions)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416052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43000" y="4160520"/>
            <a:ext cx="4709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3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 a user’s friends touches only their own edges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498348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43000" y="4983480"/>
            <a:ext cx="4709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3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shard by user ID across servers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45352" y="1737360"/>
            <a:ext cx="5394960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9050">
            <a:solidFill>
              <a:srgbClr val="D7E7E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45352" y="1737360"/>
            <a:ext cx="5394960" cy="502920"/>
          </a:xfrm>
          <a:prstGeom prst="roundRect">
            <a:avLst>
              <a:gd name="adj" fmla="val 18182"/>
            </a:avLst>
          </a:prstGeom>
          <a:solidFill>
            <a:srgbClr val="5C7A80"/>
          </a:solidFill>
          <a:ln/>
        </p:spPr>
      </p:sp>
      <p:sp>
        <p:nvSpPr>
          <p:cNvPr id="18" name="Shape 16"/>
          <p:cNvSpPr/>
          <p:nvPr/>
        </p:nvSpPr>
        <p:spPr>
          <a:xfrm>
            <a:off x="6245352" y="2011680"/>
            <a:ext cx="5394960" cy="228600"/>
          </a:xfrm>
          <a:prstGeom prst="rect">
            <a:avLst/>
          </a:prstGeom>
          <a:solidFill>
            <a:srgbClr val="5C7A80"/>
          </a:solidFill>
          <a:ln/>
        </p:spPr>
      </p:sp>
      <p:sp>
        <p:nvSpPr>
          <p:cNvPr id="19" name="Text 17"/>
          <p:cNvSpPr/>
          <p:nvPr/>
        </p:nvSpPr>
        <p:spPr>
          <a:xfrm>
            <a:off x="6473952" y="173736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Adjacency Matrix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19672" y="251460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04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839712" y="251460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3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Space: O(V²) — a fixed N × N table for N users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519672" y="333756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04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839712" y="333756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3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100M users: ~10¹⁶ cells, almost all storing “no”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519672" y="416052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04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839712" y="416052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3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one user means resizing the whole table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519672" y="498348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04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839712" y="498348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3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Wastes memory since real friend graphs are sparse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Real-World Scalability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graph model extends to platform-scale features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492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5740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00A896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08760" y="2075688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 suggestions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743200"/>
            <a:ext cx="4800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Traverse 2 hops (friends-of-friends) using BFS on adjacency lists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55080" y="1783080"/>
            <a:ext cx="53492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629400" y="205740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662940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315200" y="2075688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friends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629400" y="2743200"/>
            <a:ext cx="4800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Intersect two users’ adjacency sets in O(min(k1, k2))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023360"/>
            <a:ext cx="53492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429768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00A896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297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08760" y="4315968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Sharding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2960" y="4983480"/>
            <a:ext cx="4800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 nodes across servers by user ID; each shard owns its own lists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55080" y="4023360"/>
            <a:ext cx="53492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629400" y="429768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00A896"/>
          </a:solidFill>
          <a:ln/>
        </p:spPr>
      </p:sp>
      <p:sp>
        <p:nvSpPr>
          <p:cNvPr id="21" name="Text 19"/>
          <p:cNvSpPr/>
          <p:nvPr/>
        </p:nvSpPr>
        <p:spPr>
          <a:xfrm>
            <a:off x="6629400" y="4297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315200" y="4315968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Caching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629400" y="4983480"/>
            <a:ext cx="4800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users’ adjacency lists cached in memory (e.g. Redis) for instant reads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537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5120640"/>
            <a:ext cx="822960" cy="457200"/>
          </a:xfrm>
          <a:prstGeom prst="line">
            <a:avLst/>
          </a:prstGeom>
          <a:noFill/>
          <a:ln w="12700">
            <a:solidFill>
              <a:srgbClr val="00A896">
                <a:alpha val="6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flipV="1">
            <a:off x="914400" y="4937760"/>
            <a:ext cx="1463040" cy="182880"/>
          </a:xfrm>
          <a:prstGeom prst="line">
            <a:avLst/>
          </a:prstGeom>
          <a:noFill/>
          <a:ln w="12700">
            <a:solidFill>
              <a:srgbClr val="00A896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H="1" flipV="1">
            <a:off x="548640" y="4480560"/>
            <a:ext cx="365760" cy="640080"/>
          </a:xfrm>
          <a:prstGeom prst="line">
            <a:avLst/>
          </a:prstGeom>
          <a:noFill/>
          <a:ln w="12700">
            <a:solidFill>
              <a:srgbClr val="00A896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737360" y="4937760"/>
            <a:ext cx="640080" cy="640080"/>
          </a:xfrm>
          <a:prstGeom prst="line">
            <a:avLst/>
          </a:prstGeom>
          <a:noFill/>
          <a:ln w="12700">
            <a:solidFill>
              <a:srgbClr val="00A896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548640" y="4297680"/>
            <a:ext cx="1371600" cy="182880"/>
          </a:xfrm>
          <a:prstGeom prst="line">
            <a:avLst/>
          </a:prstGeom>
          <a:noFill/>
          <a:ln w="12700">
            <a:solidFill>
              <a:srgbClr val="00A896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H="1" flipV="1">
            <a:off x="1920240" y="4297680"/>
            <a:ext cx="457200" cy="640080"/>
          </a:xfrm>
          <a:prstGeom prst="line">
            <a:avLst/>
          </a:prstGeom>
          <a:noFill/>
          <a:ln w="12700">
            <a:solidFill>
              <a:srgbClr val="00A896">
                <a:alpha val="6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" y="5047488"/>
            <a:ext cx="146304" cy="146304"/>
          </a:xfrm>
          <a:prstGeom prst="ellipse">
            <a:avLst/>
          </a:prstGeom>
          <a:solidFill>
            <a:srgbClr val="02C39A">
              <a:alpha val="9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664208" y="5504688"/>
            <a:ext cx="146304" cy="146304"/>
          </a:xfrm>
          <a:prstGeom prst="ellipse">
            <a:avLst/>
          </a:prstGeom>
          <a:solidFill>
            <a:srgbClr val="02C39A">
              <a:alpha val="9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2304288" y="4864608"/>
            <a:ext cx="146304" cy="146304"/>
          </a:xfrm>
          <a:prstGeom prst="ellipse">
            <a:avLst/>
          </a:prstGeom>
          <a:solidFill>
            <a:srgbClr val="02C39A">
              <a:alpha val="9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475488" y="4407408"/>
            <a:ext cx="146304" cy="146304"/>
          </a:xfrm>
          <a:prstGeom prst="ellipse">
            <a:avLst/>
          </a:prstGeom>
          <a:solidFill>
            <a:srgbClr val="02C39A">
              <a:alpha val="9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847088" y="4224528"/>
            <a:ext cx="146304" cy="146304"/>
          </a:xfrm>
          <a:prstGeom prst="ellipse">
            <a:avLst/>
          </a:prstGeom>
          <a:solidFill>
            <a:srgbClr val="02C39A">
              <a:alpha val="9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11887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14" name="Shape 12"/>
          <p:cNvSpPr/>
          <p:nvPr/>
        </p:nvSpPr>
        <p:spPr>
          <a:xfrm>
            <a:off x="731520" y="1874520"/>
            <a:ext cx="182880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2340864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1097280" y="2176272"/>
            <a:ext cx="9692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4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graph, stored as an adjacency list, is the natural fit for friend relationships.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777240" y="3026664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1097280" y="2862072"/>
            <a:ext cx="9692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4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delivers O(1) average-time add, remove, and lookup operations.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777240" y="3712464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0" name="Text 18"/>
          <p:cNvSpPr/>
          <p:nvPr/>
        </p:nvSpPr>
        <p:spPr>
          <a:xfrm>
            <a:off x="1097280" y="3547872"/>
            <a:ext cx="9692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4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usage scales with actual friendships, not the square of all users.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777240" y="4398264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2" name="Text 20"/>
          <p:cNvSpPr/>
          <p:nvPr/>
        </p:nvSpPr>
        <p:spPr>
          <a:xfrm>
            <a:off x="1097280" y="4233672"/>
            <a:ext cx="9692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4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extends cleanly to suggestions, mutual friends, and distributed sharding.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731520" y="55778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31520" y="6035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D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Karthik Reddy   |   Guided by M. Shekila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2026-07-23T16:58:56Z</dcterms:created>
  <dcterms:modified xsi:type="dcterms:W3CDTF">2026-07-23T16:58:56Z</dcterms:modified>
</cp:coreProperties>
</file>